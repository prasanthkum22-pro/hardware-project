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Outfit" panose="020B0604020202020204" charset="0"/>
      <p:regular r:id="rId23"/>
      <p:bold r:id="rId24"/>
    </p:embeddedFont>
    <p:embeddedFont>
      <p:font typeface="Outfit Light" panose="020B0604020202020204" charset="0"/>
      <p:regular r:id="rId25"/>
      <p:bold r:id="rId26"/>
    </p:embeddedFont>
    <p:embeddedFont>
      <p:font typeface="Outfit SemiBold" panose="020B0604020202020204" charset="0"/>
      <p:regular r:id="rId27"/>
      <p:bold r:id="rId28"/>
    </p:embeddedFont>
    <p:embeddedFont>
      <p:font typeface="Space Grotesk" panose="020B0604020202020204" charset="0"/>
      <p:regular r:id="rId29"/>
      <p:bold r:id="rId30"/>
    </p:embeddedFont>
    <p:embeddedFont>
      <p:font typeface="Space Grotesk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369A21-7607-42D2-8215-AB8B8907304C}">
  <a:tblStyle styleId="{AC369A21-7607-42D2-8215-AB8B8907304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th k" userId="760b231b6f8cf9d5" providerId="LiveId" clId="{381E0154-11F8-4D1C-BC7C-71CFAA54FFE2}"/>
    <pc:docChg chg="custSel modSld">
      <pc:chgData name="prasanth k" userId="760b231b6f8cf9d5" providerId="LiveId" clId="{381E0154-11F8-4D1C-BC7C-71CFAA54FFE2}" dt="2026-08-01T03:47:36.904" v="10" actId="13926"/>
      <pc:docMkLst>
        <pc:docMk/>
      </pc:docMkLst>
      <pc:sldChg chg="modSp mod">
        <pc:chgData name="prasanth k" userId="760b231b6f8cf9d5" providerId="LiveId" clId="{381E0154-11F8-4D1C-BC7C-71CFAA54FFE2}" dt="2026-08-01T03:47:36.904" v="10" actId="13926"/>
        <pc:sldMkLst>
          <pc:docMk/>
          <pc:sldMk cId="0" sldId="259"/>
        </pc:sldMkLst>
        <pc:graphicFrameChg chg="mod modGraphic">
          <ac:chgData name="prasanth k" userId="760b231b6f8cf9d5" providerId="LiveId" clId="{381E0154-11F8-4D1C-BC7C-71CFAA54FFE2}" dt="2026-08-01T03:47:36.904" v="10" actId="13926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prasanth k" userId="760b231b6f8cf9d5" providerId="LiveId" clId="{381E0154-11F8-4D1C-BC7C-71CFAA54FFE2}" dt="2026-08-01T03:47:20.879" v="9" actId="207"/>
        <pc:sldMkLst>
          <pc:docMk/>
          <pc:sldMk cId="0" sldId="260"/>
        </pc:sldMkLst>
        <pc:graphicFrameChg chg="modGraphic">
          <ac:chgData name="prasanth k" userId="760b231b6f8cf9d5" providerId="LiveId" clId="{381E0154-11F8-4D1C-BC7C-71CFAA54FFE2}" dt="2026-08-01T03:47:17.343" v="8" actId="207"/>
          <ac:graphicFrameMkLst>
            <pc:docMk/>
            <pc:sldMk cId="0" sldId="260"/>
            <ac:graphicFrameMk id="167" creationId="{00000000-0000-0000-0000-000000000000}"/>
          </ac:graphicFrameMkLst>
        </pc:graphicFrameChg>
        <pc:graphicFrameChg chg="modGraphic">
          <ac:chgData name="prasanth k" userId="760b231b6f8cf9d5" providerId="LiveId" clId="{381E0154-11F8-4D1C-BC7C-71CFAA54FFE2}" dt="2026-08-01T03:47:20.879" v="9" actId="207"/>
          <ac:graphicFrameMkLst>
            <pc:docMk/>
            <pc:sldMk cId="0" sldId="260"/>
            <ac:graphicFrameMk id="17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1937" y="4750891"/>
            <a:ext cx="4048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5476" y="1497508"/>
            <a:ext cx="838104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Intelligent Home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05025" y="3244155"/>
            <a:ext cx="798195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Intrusion Detection using Ultrasonic Sensor with Automatic Door Control,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Alarm Generation, Cloud Notification &amp; Telegram Alerts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62462" y="4903291"/>
            <a:ext cx="3267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STM32 + ESP32 + Firebase + Telegram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519064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497633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Objective: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Detect intruders using an Ultrasonic Sensor and secure the premises instantly.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3493591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493591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Lock the door automatically using a Servo Motor.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3912691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3912691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Activate LED and Buzzer during an intrusion.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4331791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4331791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Send instant alerts through Telegram.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4750891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4750891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Store security events in Firebase Realtime Database.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425" y="1581150"/>
            <a:ext cx="34861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581150"/>
            <a:ext cx="34861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581150"/>
            <a:ext cx="34861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1924050"/>
            <a:ext cx="6858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23925" y="2952750"/>
            <a:ext cx="266533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Input &amp; Processing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23925" y="3781425"/>
            <a:ext cx="2800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HC-SR04 Ultrasonic Sensor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detects physical presence.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35325" y="4391025"/>
            <a:ext cx="28005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Data flows directly into 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STM32F446RE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for real-time edge processing and logic evaluation.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1924050"/>
            <a:ext cx="6858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695825" y="2952750"/>
            <a:ext cx="29003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Local Output Action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95825" y="3438525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Upon detection, the STM32 triggers immediate local actions.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95825" y="419100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Servo Motor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locks the door, while 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LED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and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Buzzer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initiate a high-visibility alarm sequence.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1924050"/>
            <a:ext cx="79057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467725" y="2952750"/>
            <a:ext cx="294036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Cloud &amp; Connectivity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67725" y="3781425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Alert data is pushed via UART to 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ESP32 WiFi Module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67725" y="4533900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The ESP32 communicates securely with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Firebase Database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and dispatches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Telegram Bot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alerts.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1145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38700" y="21145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0600" y="211455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4962"/>
            <a:ext cx="11029950" cy="4610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16"/>
          <p:cNvGraphicFramePr/>
          <p:nvPr>
            <p:extLst>
              <p:ext uri="{D42A27DB-BD31-4B8C-83A1-F6EECF244321}">
                <p14:modId xmlns:p14="http://schemas.microsoft.com/office/powerpoint/2010/main" val="909301719"/>
              </p:ext>
            </p:extLst>
          </p:nvPr>
        </p:nvGraphicFramePr>
        <p:xfrm>
          <a:off x="609575" y="1535356"/>
          <a:ext cx="11010925" cy="4591125"/>
        </p:xfrm>
        <a:graphic>
          <a:graphicData uri="http://schemas.openxmlformats.org/drawingml/2006/table">
            <a:tbl>
              <a:tblPr firstRow="1" bandRow="1">
                <a:noFill/>
                <a:tableStyleId>{AC369A21-7607-42D2-8215-AB8B8907304C}</a:tableStyleId>
              </a:tblPr>
              <a:tblGrid>
                <a:gridCol w="306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Quantity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Primary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STM32F446RE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Main Controller for logic &amp; actuator handling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ESP32 Dev Board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WiFi</a:t>
                      </a: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 Communication &amp; Cloud Integration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HC-SR04 Ultrasonic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Intrusion Detection (Proximity)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SG90 Servo Motor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Automated Door Lock Control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Active Buzzer &amp; LED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 each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Local Alarm &amp; Status Indication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Push Button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1</a:t>
                      </a:r>
                      <a:endParaR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Manual System Reset / Override</a:t>
                      </a:r>
                      <a:endParaRPr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7" name="Google Shape;137;p16"/>
          <p:cNvSpPr/>
          <p:nvPr/>
        </p:nvSpPr>
        <p:spPr>
          <a:xfrm>
            <a:off x="590550" y="2257425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655069" y="2257425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675411" y="2257425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90550" y="2914650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655069" y="2914650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675411" y="2914650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90550" y="3571875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655069" y="3571875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675411" y="3571875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90550" y="4229100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655069" y="4229100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675411" y="4229100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90550" y="4886325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655069" y="4886325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675411" y="4886325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90550" y="5543550"/>
            <a:ext cx="30645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655069" y="5543550"/>
            <a:ext cx="20203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675411" y="5543550"/>
            <a:ext cx="59260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Complete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Components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66862"/>
            <a:ext cx="52768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66862"/>
            <a:ext cx="52768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971550" y="1957387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HC-SR04 Sensor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24650" y="1957387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SG90 Servo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1995487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/>
          <p:nvPr/>
        </p:nvSpPr>
        <p:spPr>
          <a:xfrm>
            <a:off x="971550" y="2586037"/>
            <a:ext cx="4495800" cy="32766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7"/>
          <p:cNvGraphicFramePr/>
          <p:nvPr>
            <p:extLst>
              <p:ext uri="{D42A27DB-BD31-4B8C-83A1-F6EECF244321}">
                <p14:modId xmlns:p14="http://schemas.microsoft.com/office/powerpoint/2010/main" val="1925681868"/>
              </p:ext>
            </p:extLst>
          </p:nvPr>
        </p:nvGraphicFramePr>
        <p:xfrm>
          <a:off x="971550" y="2586037"/>
          <a:ext cx="4495800" cy="3276625"/>
        </p:xfrm>
        <a:graphic>
          <a:graphicData uri="http://schemas.openxmlformats.org/drawingml/2006/table">
            <a:tbl>
              <a:tblPr firstRow="1" bandRow="1">
                <a:noFill/>
                <a:tableStyleId>{AC369A21-7607-42D2-8215-AB8B8907304C}</a:tableStyleId>
              </a:tblPr>
              <a:tblGrid>
                <a:gridCol w="16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Sensor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STM32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VCC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5V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TRIG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PB0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ECHO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PB1 (Voltage Divider Req.)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995487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6724650" y="2586037"/>
            <a:ext cx="4495800" cy="2619375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7"/>
          <p:cNvGraphicFramePr/>
          <p:nvPr>
            <p:extLst>
              <p:ext uri="{D42A27DB-BD31-4B8C-83A1-F6EECF244321}">
                <p14:modId xmlns:p14="http://schemas.microsoft.com/office/powerpoint/2010/main" val="2317198241"/>
              </p:ext>
            </p:extLst>
          </p:nvPr>
        </p:nvGraphicFramePr>
        <p:xfrm>
          <a:off x="6724650" y="2586037"/>
          <a:ext cx="4495800" cy="2619400"/>
        </p:xfrm>
        <a:graphic>
          <a:graphicData uri="http://schemas.openxmlformats.org/drawingml/2006/table">
            <a:tbl>
              <a:tblPr firstRow="1" bandRow="1">
                <a:noFill/>
                <a:tableStyleId>{AC369A21-7607-42D2-8215-AB8B8907304C}</a:tableStyleId>
              </a:tblPr>
              <a:tblGrid>
                <a:gridCol w="22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Servo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STM32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VCC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External 5V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Signal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PA6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" name="Google Shape;171;p17"/>
          <p:cNvSpPr/>
          <p:nvPr/>
        </p:nvSpPr>
        <p:spPr>
          <a:xfrm>
            <a:off x="971550" y="3228975"/>
            <a:ext cx="1687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658665" y="3228975"/>
            <a:ext cx="2808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724650" y="3228975"/>
            <a:ext cx="22117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8936384" y="3228975"/>
            <a:ext cx="2284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71550" y="3886200"/>
            <a:ext cx="1687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658665" y="3886200"/>
            <a:ext cx="2808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971550" y="4543425"/>
            <a:ext cx="1687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658665" y="4543425"/>
            <a:ext cx="2808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971550" y="5200650"/>
            <a:ext cx="16871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658665" y="5200650"/>
            <a:ext cx="28086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6724650" y="3886200"/>
            <a:ext cx="22117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936384" y="3886200"/>
            <a:ext cx="2284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724650" y="4543425"/>
            <a:ext cx="22117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936384" y="4543425"/>
            <a:ext cx="22840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STM32 Connections: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Sensors &amp; Actuators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5512"/>
            <a:ext cx="34861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95512"/>
            <a:ext cx="34861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95512"/>
            <a:ext cx="34861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923925" y="2538412"/>
            <a:ext cx="17902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LED Status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23925" y="3024187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Provides visual indication of the system's active alarm state.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923925" y="3919537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23925" y="4081462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Anode (+):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PC0 (w/ 220Ω Resistor)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23925" y="4833937"/>
            <a:ext cx="1485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Cathode (-):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GND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695825" y="2538412"/>
            <a:ext cx="22952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Active Buzzer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695825" y="3024187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Provides high-decibel auditory alert upon unauthorized entry.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695825" y="3919537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4695825" y="4081462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Positive (+):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PC1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695825" y="4529137"/>
            <a:ext cx="151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Negative (-):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GND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467725" y="2538412"/>
            <a:ext cx="218027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Reset Button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467725" y="3024187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Allows manual override or resetting the alarm state securely.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8467725" y="4224337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8467725" y="4386262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Pin 1: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PC2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8467725" y="4833937"/>
            <a:ext cx="90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Pin 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GND</a:t>
            </a:r>
            <a:endParaRPr/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576512"/>
            <a:ext cx="1952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576512"/>
            <a:ext cx="32861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57651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STM32 Connections: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Alarms &amp; Inputs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00187"/>
            <a:ext cx="52768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424362"/>
            <a:ext cx="52768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19"/>
          <p:cNvGraphicFramePr/>
          <p:nvPr/>
        </p:nvGraphicFramePr>
        <p:xfrm>
          <a:off x="590550" y="15097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{AC369A21-7607-42D2-8215-AB8B8907304C}</a:tableStyleId>
              </a:tblPr>
              <a:tblGrid>
                <a:gridCol w="25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STM32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ESP32 Pin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PA2 (TX)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GPIO16 (RX2)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PA3 (RX)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GPIO17 (TX2)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GND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2" name="Google Shape;222;p19"/>
          <p:cNvSpPr txBox="1"/>
          <p:nvPr/>
        </p:nvSpPr>
        <p:spPr>
          <a:xfrm>
            <a:off x="809625" y="4614862"/>
            <a:ext cx="51006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Important Notes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09625" y="49101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 Connect Common Ground across boards.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809625" y="52149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 Add a 1kΩ resistor between STM32 TX &amp; ESP32 RX to protect 3.3V logic.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09625" y="5824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 Standard Baud Rate: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115200</a:t>
            </a:r>
            <a:endParaRPr/>
          </a:p>
        </p:txBody>
      </p:sp>
      <p:pic>
        <p:nvPicPr>
          <p:cNvPr id="226" name="Google Shape;22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2014537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590550" y="2152650"/>
            <a:ext cx="25559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3146524" y="2152650"/>
            <a:ext cx="270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90550" y="2809875"/>
            <a:ext cx="25559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3146524" y="2809875"/>
            <a:ext cx="270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90550" y="3467100"/>
            <a:ext cx="25559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146524" y="3467100"/>
            <a:ext cx="2701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81025" y="538162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ESP32 to STM32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UART Connection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4376825" y="2339925"/>
            <a:ext cx="6561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29087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531390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Power ON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581025" y="4872037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System boots up.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2792536" y="3037582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STM32 Init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2842170" y="3380482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Core setup complete.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053682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Servo Locks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5103316" y="4872037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Door secured automatically.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314827" y="3037582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4. Ultrasonic Scan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364462" y="3380482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Object detected in range.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9575973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5. Threshold Check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9625607" y="4872037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Is Distance &lt; Threshold? (YES)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1459408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720554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981700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8242845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10503991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Workflow: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Detection Phase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29087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531390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Alarm Triggered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581025" y="4872037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LED ON, Buzzer ON, Door Locked.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2792536" y="2793801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UART Sent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2842170" y="3136701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STM32 pushes alert to ESP32.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5053682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Cloud Update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5103316" y="4872037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Telegram &amp; Firebase notified.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7314827" y="3037582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4. Owner Alert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364462" y="3380482"/>
            <a:ext cx="198536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Push notification received.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9575973" y="4529137"/>
            <a:ext cx="208463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5. Remote Reset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9625607" y="4872037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Owner secures &amp; unlocks via app.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1459408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720554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5981700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8242845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10503991" y="40338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Workflow: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Alert Phase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9725"/>
            <a:ext cx="527685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971550" y="2000250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UART Command Lexicon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715125" y="2262187"/>
            <a:ext cx="4514850" cy="32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STM32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UART Bridge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ESP32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Firebase &amp; Telegram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971550" y="2533650"/>
            <a:ext cx="4495800" cy="514350"/>
          </a:xfrm>
          <a:prstGeom prst="roundRect">
            <a:avLst>
              <a:gd name="adj" fmla="val 14814"/>
            </a:avLst>
          </a:prstGeom>
          <a:solidFill>
            <a:srgbClr val="22D3EE"/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1066800" y="2628900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INTRUDER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Flags unauthorized entry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971550" y="3190875"/>
            <a:ext cx="4495800" cy="514350"/>
          </a:xfrm>
          <a:prstGeom prst="roundRect">
            <a:avLst>
              <a:gd name="adj" fmla="val 14814"/>
            </a:avLst>
          </a:prstGeom>
          <a:solidFill>
            <a:srgbClr val="22D3EE"/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066800" y="3286125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STATUS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Requests current system state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971550" y="3848100"/>
            <a:ext cx="4495800" cy="514350"/>
          </a:xfrm>
          <a:prstGeom prst="roundRect">
            <a:avLst>
              <a:gd name="adj" fmla="val 14814"/>
            </a:avLst>
          </a:prstGeom>
          <a:solidFill>
            <a:srgbClr val="22D3EE"/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1066800" y="3943350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RESET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Turns off alarms &amp; clears flags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971550" y="4505325"/>
            <a:ext cx="4495800" cy="514350"/>
          </a:xfrm>
          <a:prstGeom prst="roundRect">
            <a:avLst>
              <a:gd name="adj" fmla="val 14814"/>
            </a:avLst>
          </a:prstGeom>
          <a:solidFill>
            <a:srgbClr val="22D3EE"/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066800" y="4600575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LOCK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Engages servo lock mechanism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971550" y="5162550"/>
            <a:ext cx="4495800" cy="514350"/>
          </a:xfrm>
          <a:prstGeom prst="roundRect">
            <a:avLst>
              <a:gd name="adj" fmla="val 14814"/>
            </a:avLst>
          </a:prstGeom>
          <a:solidFill>
            <a:srgbClr val="22D3EE"/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066800" y="5257800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UNLOCK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Disengages servo lock</a:t>
            </a:r>
            <a:endParaRPr/>
          </a:p>
        </p:txBody>
      </p:sp>
      <p:pic>
        <p:nvPicPr>
          <p:cNvPr id="297" name="Google Shape;29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0" y="27860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0" y="37576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0" y="472916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/>
          <p:nvPr/>
        </p:nvSpPr>
        <p:spPr>
          <a:xfrm>
            <a:off x="971550" y="3038475"/>
            <a:ext cx="4495800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71550" y="3695700"/>
            <a:ext cx="4495800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71550" y="4352925"/>
            <a:ext cx="4495800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971550" y="5010150"/>
            <a:ext cx="4495800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971550" y="5667375"/>
            <a:ext cx="4495800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ESP32 &amp; STM32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Communication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400300"/>
            <a:ext cx="6858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923925" y="3429000"/>
            <a:ext cx="7900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1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923925" y="4057650"/>
            <a:ext cx="2800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Navigate to the official Firebase console: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23925" y="4667250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366F1"/>
                </a:solidFill>
                <a:latin typeface="Outfit Light"/>
                <a:ea typeface="Outfit Light"/>
                <a:cs typeface="Outfit Light"/>
                <a:sym typeface="Outfit Light"/>
              </a:rPr>
              <a:t>https://console.firebase.google.com</a:t>
            </a:r>
            <a:endParaRPr/>
          </a:p>
        </p:txBody>
      </p:sp>
      <p:pic>
        <p:nvPicPr>
          <p:cNvPr id="318" name="Google Shape;31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400300"/>
            <a:ext cx="6858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4695825" y="3429000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2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4695825" y="3914775"/>
            <a:ext cx="1847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Create a New Project.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4695825" y="43624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Enable Google Analytics (Optional, but recommended for debugging). Click Continue.</a:t>
            </a:r>
            <a:endParaRPr/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400300"/>
            <a:ext cx="63817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8467725" y="3429000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3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8467725" y="3914775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Open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Realtime Database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8467725" y="43624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Click "Create Database" and select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Test Mode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to allow ESP32 read/write access.</a:t>
            </a:r>
            <a:endParaRPr/>
          </a:p>
        </p:txBody>
      </p:sp>
      <p:pic>
        <p:nvPicPr>
          <p:cNvPr id="326" name="Google Shape;32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5908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38700" y="25908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0600" y="2590800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Firebase Setup: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Configuration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05000"/>
            <a:ext cx="348615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05000"/>
            <a:ext cx="348615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05000"/>
            <a:ext cx="348615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247900"/>
            <a:ext cx="79057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 txBox="1"/>
          <p:nvPr/>
        </p:nvSpPr>
        <p:spPr>
          <a:xfrm>
            <a:off x="923925" y="3276600"/>
            <a:ext cx="8501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4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923925" y="3762375"/>
            <a:ext cx="2114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Copy 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Database URL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pic>
        <p:nvPicPr>
          <p:cNvPr id="341" name="Google Shape;34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3925" y="4210050"/>
            <a:ext cx="2800350" cy="61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95825" y="2247900"/>
            <a:ext cx="6858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4695825" y="3276600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5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4695825" y="3762375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Go to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Project Settings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→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Service Accounts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4695825" y="4514850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Locate and copy the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Database Secret / API Key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pic>
        <p:nvPicPr>
          <p:cNvPr id="346" name="Google Shape;346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67725" y="2247900"/>
            <a:ext cx="79057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8467725" y="3276600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6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8467725" y="3762375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Open the ESP32 Code in Arduino IDE.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8467725" y="45148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Replace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FIREBASE_HOST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and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API_KEY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with your copied credentials.</a:t>
            </a:r>
            <a:endParaRPr/>
          </a:p>
        </p:txBody>
      </p:sp>
      <p:pic>
        <p:nvPicPr>
          <p:cNvPr id="350" name="Google Shape;350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6800" y="2438400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38700" y="24384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10600" y="243840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Firebase Setup: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 Keys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85887"/>
            <a:ext cx="527685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/>
        </p:nvSpPr>
        <p:spPr>
          <a:xfrm>
            <a:off x="1395561" y="2424112"/>
            <a:ext cx="6859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1697235" y="2767012"/>
            <a:ext cx="9145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"Locked"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1395561" y="3452812"/>
            <a:ext cx="9145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Intruder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1697235" y="3795712"/>
            <a:ext cx="4573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1395561" y="4481512"/>
            <a:ext cx="4573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1697235" y="4824412"/>
            <a:ext cx="11432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"10:30 PM"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1395561" y="5510212"/>
            <a:ext cx="9145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1676548" y="5853112"/>
            <a:ext cx="8002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"18 cm"</a:t>
            </a:r>
            <a:endParaRPr/>
          </a:p>
        </p:txBody>
      </p:sp>
      <p:pic>
        <p:nvPicPr>
          <p:cNvPr id="369" name="Google Shape;36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14537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 txBox="1"/>
          <p:nvPr/>
        </p:nvSpPr>
        <p:spPr>
          <a:xfrm>
            <a:off x="581025" y="423862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Firebase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Structure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24125"/>
            <a:ext cx="52768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24125"/>
            <a:ext cx="52768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/>
        </p:nvSpPr>
        <p:spPr>
          <a:xfrm>
            <a:off x="971550" y="2914650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Steps 1 &amp; 2: Initiation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971550" y="340042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1: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Open the Telegram app and search for the official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@BotFather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971550" y="415290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Type the command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/newbot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to initiate the creation process.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724650" y="2914650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Steps 3 &amp; 4: Credentials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6724650" y="340042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3: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Enter a friendly Bot Name, followed by a unique Bot Username.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6724650" y="415290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4: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BotFather will generate an HTTP API Token (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BOT TOKEN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). Copy and secure this token.</a:t>
            </a:r>
            <a:endParaRPr/>
          </a:p>
        </p:txBody>
      </p:sp>
      <p:pic>
        <p:nvPicPr>
          <p:cNvPr id="384" name="Google Shape;38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952750"/>
            <a:ext cx="32861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9527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Telegram Bot Setup: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6695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6695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66950"/>
            <a:ext cx="34861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7"/>
          <p:cNvSpPr txBox="1"/>
          <p:nvPr/>
        </p:nvSpPr>
        <p:spPr>
          <a:xfrm>
            <a:off x="923925" y="2609850"/>
            <a:ext cx="14451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Steps 5 &amp; 6</a:t>
            </a:r>
            <a:endParaRPr/>
          </a:p>
        </p:txBody>
      </p:sp>
      <p:sp>
        <p:nvSpPr>
          <p:cNvPr id="396" name="Google Shape;396;p27"/>
          <p:cNvSpPr txBox="1"/>
          <p:nvPr/>
        </p:nvSpPr>
        <p:spPr>
          <a:xfrm>
            <a:off x="923925" y="309562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5: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Search your newly created Bot in Telegram and click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START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397" name="Google Shape;397;p27"/>
          <p:cNvSpPr txBox="1"/>
          <p:nvPr/>
        </p:nvSpPr>
        <p:spPr>
          <a:xfrm>
            <a:off x="923925" y="4152900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Open a browser to:</a:t>
            </a:r>
            <a:endParaRPr/>
          </a:p>
        </p:txBody>
      </p:sp>
      <p:sp>
        <p:nvSpPr>
          <p:cNvPr id="398" name="Google Shape;398;p27"/>
          <p:cNvSpPr txBox="1"/>
          <p:nvPr/>
        </p:nvSpPr>
        <p:spPr>
          <a:xfrm>
            <a:off x="923925" y="4600575"/>
            <a:ext cx="2714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366F1"/>
                </a:solidFill>
                <a:latin typeface="Outfit Light"/>
                <a:ea typeface="Outfit Light"/>
                <a:cs typeface="Outfit Light"/>
                <a:sym typeface="Outfit Light"/>
              </a:rPr>
              <a:t>api.telegram.org/botYOUR_TOKEN/getUpdates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695825" y="2609850"/>
            <a:ext cx="143517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Steps 7 &amp; 8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695825" y="309562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Send "Hello" to your bot in the app. Refresh the browser page.</a:t>
            </a:r>
            <a:endParaRPr/>
          </a:p>
        </p:txBody>
      </p:sp>
      <p:sp>
        <p:nvSpPr>
          <p:cNvPr id="401" name="Google Shape;401;p27"/>
          <p:cNvSpPr txBox="1"/>
          <p:nvPr/>
        </p:nvSpPr>
        <p:spPr>
          <a:xfrm>
            <a:off x="4695825" y="415290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 8: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In the JSON response, locate the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chat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object and find the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id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 Copy this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CHAT_ID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/>
          </a:p>
        </p:txBody>
      </p:sp>
      <p:sp>
        <p:nvSpPr>
          <p:cNvPr id="402" name="Google Shape;402;p27"/>
          <p:cNvSpPr txBox="1"/>
          <p:nvPr/>
        </p:nvSpPr>
        <p:spPr>
          <a:xfrm>
            <a:off x="8467725" y="2609850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Step 9</a:t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8467725" y="3095625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Integration: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Open your ESP32 Code.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8467725" y="384810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Paste the copied values into the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BOT_TOKEN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and </a:t>
            </a:r>
            <a:r>
              <a:rPr lang="en-US" sz="1500" b="0" i="0" u="none" strike="noStrike" cap="none">
                <a:solidFill>
                  <a:srgbClr val="22D3EE"/>
                </a:solidFill>
                <a:latin typeface="Outfit Light"/>
                <a:ea typeface="Outfit Light"/>
                <a:cs typeface="Outfit Light"/>
                <a:sym typeface="Outfit Light"/>
              </a:rPr>
              <a:t>CHAT_ID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macros to link the hardware.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Telegram Bot Setup: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Activation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57672"/>
            <a:ext cx="11029950" cy="41046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" name="Google Shape;412;p28"/>
          <p:cNvGraphicFramePr/>
          <p:nvPr/>
        </p:nvGraphicFramePr>
        <p:xfrm>
          <a:off x="590550" y="186719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{AC369A21-7607-42D2-8215-AB8B8907304C}</a:tableStyleId>
              </a:tblPr>
              <a:tblGrid>
                <a:gridCol w="440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Command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System Action Triggered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/status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Returns the Current Status (Locked, Safe, Intrusion)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/reset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Remotely Resets Alarm and clears intrusion flags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/unlock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Manually Unlocks the Door via servo actuation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/lock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Manually Locks the Door securely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2D3EE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/arm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Outfit Light"/>
                          <a:ea typeface="Outfit Light"/>
                          <a:cs typeface="Outfit Light"/>
                          <a:sym typeface="Outfit Light"/>
                        </a:rPr>
                        <a:t>Arms Security mode &amp; activates sensor polling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3" name="Google Shape;413;p28"/>
          <p:cNvSpPr/>
          <p:nvPr/>
        </p:nvSpPr>
        <p:spPr>
          <a:xfrm>
            <a:off x="590550" y="2510135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4994820" y="2510135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590550" y="3197721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4994820" y="3197721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590550" y="388530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4994820" y="3885307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590550" y="4572892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4994820" y="4572892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590550" y="5260478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4994820" y="5260478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Telegram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Commands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8762"/>
            <a:ext cx="52768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9"/>
          <p:cNvSpPr txBox="1"/>
          <p:nvPr/>
        </p:nvSpPr>
        <p:spPr>
          <a:xfrm>
            <a:off x="581025" y="2081212"/>
            <a:ext cx="527685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Ultrasonic Sensor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STM32 Controller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Servo + LED + Buzzer Action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UART Bridge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ESP32 Module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WiFi Router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Firebase / Telegram API</a:t>
            </a: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1800" b="0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Owner Mobile Device</a:t>
            </a:r>
            <a:endParaRPr/>
          </a:p>
        </p:txBody>
      </p:sp>
      <p:pic>
        <p:nvPicPr>
          <p:cNvPr id="431" name="Google Shape;43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6527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099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671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243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4815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9387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3959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538287"/>
            <a:ext cx="52578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9"/>
          <p:cNvSpPr txBox="1"/>
          <p:nvPr/>
        </p:nvSpPr>
        <p:spPr>
          <a:xfrm>
            <a:off x="581025" y="56673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Complete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Flow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/>
          <p:nvPr/>
        </p:nvSpPr>
        <p:spPr>
          <a:xfrm>
            <a:off x="1333500" y="1319212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1952625" y="1509712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Automatic Intruder Detection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Immediate sensing without blind spots.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6191250" y="1319212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6810375" y="1509712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Instant Telegram Alerts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Notification delivered within milliseconds.</a:t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1333500" y="2662237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 txBox="1"/>
          <p:nvPr/>
        </p:nvSpPr>
        <p:spPr>
          <a:xfrm>
            <a:off x="1952625" y="2852737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Cloud Monitoring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Persistent logging in Firebase Database.</a:t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6191250" y="2662237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6810375" y="2852737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Remote Door Control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App-based lock/unlock operations.</a:t>
            </a: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1333500" y="4005262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1952625" y="4195762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Real-Time Logging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Track historical entry data accurately.</a:t>
            </a:r>
            <a:endParaRPr/>
          </a:p>
        </p:txBody>
      </p:sp>
      <p:sp>
        <p:nvSpPr>
          <p:cNvPr id="455" name="Google Shape;455;p30"/>
          <p:cNvSpPr/>
          <p:nvPr/>
        </p:nvSpPr>
        <p:spPr>
          <a:xfrm>
            <a:off x="6191250" y="4005262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6810375" y="4195762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Low Cost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Highly affordable off-the-shelf components.</a:t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1333500" y="5348287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1952625" y="5538787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Easy Installation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Plug-and-play architectural design.</a:t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6191250" y="5348287"/>
            <a:ext cx="4667250" cy="1009650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6810375" y="5538787"/>
            <a:ext cx="3857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Expandable IoT System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Open for additional smart sensors.</a:t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1333500" y="2319337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6191250" y="2319337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1333500" y="3662362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6191250" y="3662362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1333500" y="5005387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6191250" y="5005387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1333500" y="6348412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6191250" y="6348412"/>
            <a:ext cx="4667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525" y="1528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28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525" y="28717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8717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3525" y="42148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91275" y="4214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33525" y="5557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91275" y="55578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0"/>
          <p:cNvSpPr txBox="1"/>
          <p:nvPr/>
        </p:nvSpPr>
        <p:spPr>
          <a:xfrm>
            <a:off x="581025" y="35718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Advantages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9451"/>
            <a:ext cx="3486150" cy="148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79451"/>
            <a:ext cx="3486150" cy="148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79451"/>
            <a:ext cx="3486150" cy="148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52887"/>
            <a:ext cx="3486150" cy="148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2925" y="4052887"/>
            <a:ext cx="3486150" cy="148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4825" y="4052887"/>
            <a:ext cx="348615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1"/>
          <p:cNvSpPr txBox="1"/>
          <p:nvPr/>
        </p:nvSpPr>
        <p:spPr>
          <a:xfrm>
            <a:off x="828675" y="2527101"/>
            <a:ext cx="154019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Biometrics</a:t>
            </a:r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828675" y="2889051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Face Recognition &amp; Fingerprint Authentication for secure local access.</a:t>
            </a:r>
            <a:endParaRPr/>
          </a:p>
        </p:txBody>
      </p:sp>
      <p:sp>
        <p:nvSpPr>
          <p:cNvPr id="491" name="Google Shape;491;p31"/>
          <p:cNvSpPr txBox="1"/>
          <p:nvPr/>
        </p:nvSpPr>
        <p:spPr>
          <a:xfrm>
            <a:off x="4600575" y="2527101"/>
            <a:ext cx="166020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Surveillance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4600575" y="2889051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ESP32-CAM module for live camera streaming inside the application.</a:t>
            </a:r>
            <a:endParaRPr/>
          </a:p>
        </p:txBody>
      </p:sp>
      <p:sp>
        <p:nvSpPr>
          <p:cNvPr id="493" name="Google Shape;493;p31"/>
          <p:cNvSpPr txBox="1"/>
          <p:nvPr/>
        </p:nvSpPr>
        <p:spPr>
          <a:xfrm>
            <a:off x="8372475" y="2527101"/>
            <a:ext cx="157019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 App</a:t>
            </a:r>
            <a:endParaRPr/>
          </a:p>
        </p:txBody>
      </p:sp>
      <p:sp>
        <p:nvSpPr>
          <p:cNvPr id="494" name="Google Shape;494;p31"/>
          <p:cNvSpPr txBox="1"/>
          <p:nvPr/>
        </p:nvSpPr>
        <p:spPr>
          <a:xfrm>
            <a:off x="8372475" y="2889051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Dedicated Mobile Application Dashboard for unified control.</a:t>
            </a:r>
            <a:endParaRPr/>
          </a:p>
        </p:txBody>
      </p:sp>
      <p:sp>
        <p:nvSpPr>
          <p:cNvPr id="495" name="Google Shape;495;p31"/>
          <p:cNvSpPr txBox="1"/>
          <p:nvPr/>
        </p:nvSpPr>
        <p:spPr>
          <a:xfrm>
            <a:off x="828675" y="4300537"/>
            <a:ext cx="16852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Voice Control</a:t>
            </a:r>
            <a:endParaRPr/>
          </a:p>
        </p:txBody>
      </p:sp>
      <p:sp>
        <p:nvSpPr>
          <p:cNvPr id="496" name="Google Shape;496;p31"/>
          <p:cNvSpPr txBox="1"/>
          <p:nvPr/>
        </p:nvSpPr>
        <p:spPr>
          <a:xfrm>
            <a:off x="828675" y="4662487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Integration with Voice Assistants (Alexa/Google Home).</a:t>
            </a:r>
            <a:endParaRPr/>
          </a:p>
        </p:txBody>
      </p:sp>
      <p:sp>
        <p:nvSpPr>
          <p:cNvPr id="497" name="Google Shape;497;p31"/>
          <p:cNvSpPr txBox="1"/>
          <p:nvPr/>
        </p:nvSpPr>
        <p:spPr>
          <a:xfrm>
            <a:off x="4600575" y="4300537"/>
            <a:ext cx="85010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RFID</a:t>
            </a:r>
            <a:endParaRPr/>
          </a:p>
        </p:txBody>
      </p:sp>
      <p:sp>
        <p:nvSpPr>
          <p:cNvPr id="498" name="Google Shape;498;p31"/>
          <p:cNvSpPr txBox="1"/>
          <p:nvPr/>
        </p:nvSpPr>
        <p:spPr>
          <a:xfrm>
            <a:off x="4600575" y="4662487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Secure RFID card or tag-based access control logging.</a:t>
            </a:r>
            <a:endParaRPr/>
          </a:p>
        </p:txBody>
      </p:sp>
      <p:sp>
        <p:nvSpPr>
          <p:cNvPr id="499" name="Google Shape;499;p31"/>
          <p:cNvSpPr txBox="1"/>
          <p:nvPr/>
        </p:nvSpPr>
        <p:spPr>
          <a:xfrm>
            <a:off x="8372475" y="4300537"/>
            <a:ext cx="14801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Defense</a:t>
            </a:r>
            <a:endParaRPr/>
          </a:p>
        </p:txBody>
      </p:sp>
      <p:sp>
        <p:nvSpPr>
          <p:cNvPr id="500" name="Google Shape;500;p31"/>
          <p:cNvSpPr txBox="1"/>
          <p:nvPr/>
        </p:nvSpPr>
        <p:spPr>
          <a:xfrm>
            <a:off x="8372475" y="4662487"/>
            <a:ext cx="2990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AI-Based Intrusion Detection to reduce false positive alerts.</a:t>
            </a:r>
            <a:endParaRPr/>
          </a:p>
        </p:txBody>
      </p:sp>
      <p:pic>
        <p:nvPicPr>
          <p:cNvPr id="501" name="Google Shape;501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2555676"/>
            <a:ext cx="2619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00575" y="2555676"/>
            <a:ext cx="23336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2475" y="2555676"/>
            <a:ext cx="15716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675" y="4329112"/>
            <a:ext cx="15716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600575" y="4329112"/>
            <a:ext cx="23336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372475" y="4329112"/>
            <a:ext cx="20478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</a:t>
            </a: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Enhancements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2"/>
          <p:cNvSpPr txBox="1"/>
          <p:nvPr/>
        </p:nvSpPr>
        <p:spPr>
          <a:xfrm>
            <a:off x="305276" y="2191642"/>
            <a:ext cx="1158144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581025" y="3477517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Outfit Light"/>
                <a:ea typeface="Outfit Light"/>
                <a:cs typeface="Outfit Light"/>
                <a:sym typeface="Outfit Light"/>
              </a:rPr>
              <a:t>Questions &amp; Answers</a:t>
            </a:r>
            <a:endParaRPr/>
          </a:p>
        </p:txBody>
      </p:sp>
      <p:sp>
        <p:nvSpPr>
          <p:cNvPr id="515" name="Google Shape;515;p32"/>
          <p:cNvSpPr txBox="1"/>
          <p:nvPr/>
        </p:nvSpPr>
        <p:spPr>
          <a:xfrm>
            <a:off x="581025" y="4380458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STM32 + ESP32 + Firebase + Telegram</a:t>
            </a:r>
            <a:endParaRPr/>
          </a:p>
        </p:txBody>
      </p:sp>
      <p:pic>
        <p:nvPicPr>
          <p:cNvPr id="516" name="Google Shape;51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3350" y="4409033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Widescreen</PresentationFormat>
  <Paragraphs>208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Outfit Light</vt:lpstr>
      <vt:lpstr>Space Grotesk SemiBold</vt:lpstr>
      <vt:lpstr>Calibri</vt:lpstr>
      <vt:lpstr>Outfit</vt:lpstr>
      <vt:lpstr>Space Grotesk</vt:lpstr>
      <vt:lpstr>Arial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prasanth k</cp:lastModifiedBy>
  <cp:revision>1</cp:revision>
  <dcterms:modified xsi:type="dcterms:W3CDTF">2026-08-01T03:47:47Z</dcterms:modified>
</cp:coreProperties>
</file>